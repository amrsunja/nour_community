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2.png"/><Relationship Id="rId4" Type="http://schemas.openxmlformats.org/officeDocument/2006/relationships/image" Target="../media/image-6-2.png"/><Relationship Id="rId5" Type="http://schemas.openxmlformats.org/officeDocument/2006/relationships/image" Target="../media/image-6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01010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914400"/>
            <a:ext cx="3657600" cy="5029200"/>
          </a:xfrm>
          <a:prstGeom prst="roundRect">
            <a:avLst>
              <a:gd name="adj" fmla="val 5000"/>
            </a:avLst>
          </a:prstGeom>
          <a:solidFill>
            <a:srgbClr val="272E22"/>
          </a:solidFill>
          <a:ln w="12700">
            <a:solidFill>
              <a:srgbClr val="404F3B"/>
            </a:solidFill>
            <a:prstDash val="solid"/>
          </a:ln>
        </p:spPr>
      </p:sp>
      <p:pic>
        <p:nvPicPr>
          <p:cNvPr id="4" name="Image 0" descr="/sessions/gallant-beautiful-ramanujan/mnt/outputs/asset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732520" y="1828800"/>
            <a:ext cx="2103120" cy="2103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55280" y="4069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8C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NOUR COMMUNITY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955280" y="4434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7B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islamique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22960" y="1554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59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DE PRÉSENTATION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196596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Dons &amp; Zakat</a:t>
            </a:r>
            <a:endParaRPr lang="en-US" sz="5400" dirty="0"/>
          </a:p>
        </p:txBody>
      </p:sp>
      <p:sp>
        <p:nvSpPr>
          <p:cNvPr id="9" name="Text 6"/>
          <p:cNvSpPr/>
          <p:nvPr/>
        </p:nvSpPr>
        <p:spPr>
          <a:xfrm>
            <a:off x="822960" y="315468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DCB7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logique de paiement, expliquée simplement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822960" y="411480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7B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les utilisateurs paient leur zakat et leurs dons, 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7B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comment l'administrateur reverse les fonds aux organisations partenaires.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822960" y="5486400"/>
            <a:ext cx="2194560" cy="0"/>
          </a:xfrm>
          <a:prstGeom prst="line">
            <a:avLst/>
          </a:prstGeom>
          <a:noFill/>
          <a:ln w="25400">
            <a:solidFill>
              <a:srgbClr val="C59F5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56235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7B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Préparé pour présentation client  ·  Mai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59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D'ENSEMBLE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Quatre éléments, une expérience fluide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670048" cy="4023360"/>
          </a:xfrm>
          <a:prstGeom prst="roundRect">
            <a:avLst>
              <a:gd name="adj" fmla="val 3425"/>
            </a:avLst>
          </a:prstGeom>
          <a:solidFill>
            <a:srgbClr val="1F261C"/>
          </a:solidFill>
          <a:ln w="12700">
            <a:solidFill>
              <a:srgbClr val="404F3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89304" y="2377440"/>
            <a:ext cx="1371600" cy="1371600"/>
          </a:xfrm>
          <a:prstGeom prst="roundRect">
            <a:avLst>
              <a:gd name="adj" fmla="val 8000"/>
            </a:avLst>
          </a:prstGeom>
          <a:solidFill>
            <a:srgbClr val="2C3427"/>
          </a:solidFill>
          <a:ln w="12700">
            <a:solidFill>
              <a:srgbClr val="404F3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sessions/gallant-beautiful-ramanujan/mnt/outputs/assets/ill_17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508760" y="2596896"/>
            <a:ext cx="932688" cy="9326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1488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59F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68680" y="3931920"/>
            <a:ext cx="22128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Calculateur de Zakat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68680" y="4663440"/>
            <a:ext cx="22128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7B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L'utilisateur calcule sa zakat, puis la verse directement aux projets éligibles.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557016" y="1965960"/>
            <a:ext cx="2670048" cy="4023360"/>
          </a:xfrm>
          <a:prstGeom prst="roundRect">
            <a:avLst>
              <a:gd name="adj" fmla="val 3425"/>
            </a:avLst>
          </a:prstGeom>
          <a:solidFill>
            <a:srgbClr val="1F261C"/>
          </a:solidFill>
          <a:ln w="12700">
            <a:solidFill>
              <a:srgbClr val="404F3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06240" y="2377440"/>
            <a:ext cx="1371600" cy="1371600"/>
          </a:xfrm>
          <a:prstGeom prst="roundRect">
            <a:avLst>
              <a:gd name="adj" fmla="val 8000"/>
            </a:avLst>
          </a:prstGeom>
          <a:solidFill>
            <a:srgbClr val="2C3427"/>
          </a:solidFill>
          <a:ln w="12700">
            <a:solidFill>
              <a:srgbClr val="404F3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/sessions/gallant-beautiful-ramanujan/mnt/outputs/assets/ill_29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425696" y="2596896"/>
            <a:ext cx="932688" cy="9326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85616" y="21488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59F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3785616" y="3931920"/>
            <a:ext cx="22128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Écran Impact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3785616" y="4663440"/>
            <a:ext cx="22128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7B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projets sont classés par catégorie. L'utilisateur choisit une cause et fait un don.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473952" y="1965960"/>
            <a:ext cx="2670048" cy="4023360"/>
          </a:xfrm>
          <a:prstGeom prst="roundRect">
            <a:avLst>
              <a:gd name="adj" fmla="val 3425"/>
            </a:avLst>
          </a:prstGeom>
          <a:solidFill>
            <a:srgbClr val="1F261C"/>
          </a:solidFill>
          <a:ln w="12700">
            <a:solidFill>
              <a:srgbClr val="404F3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123176" y="2377440"/>
            <a:ext cx="1371600" cy="1371600"/>
          </a:xfrm>
          <a:prstGeom prst="roundRect">
            <a:avLst>
              <a:gd name="adj" fmla="val 8000"/>
            </a:avLst>
          </a:prstGeom>
          <a:solidFill>
            <a:srgbClr val="2C3427"/>
          </a:solidFill>
          <a:ln w="12700">
            <a:solidFill>
              <a:srgbClr val="404F3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pic>
        <p:nvPicPr>
          <p:cNvPr id="18" name="Image 2" descr="/sessions/gallant-beautiful-ramanujan/mnt/outputs/assets/ill_10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342632" y="2596896"/>
            <a:ext cx="932688" cy="93268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702552" y="21488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59F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6702552" y="3931920"/>
            <a:ext cx="22128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Paiement sécurisé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6702552" y="4663440"/>
            <a:ext cx="22128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7B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paiement passe par Stripe. Tout est validé et enregistré côté serveur.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9390888" y="1965960"/>
            <a:ext cx="2670048" cy="4023360"/>
          </a:xfrm>
          <a:prstGeom prst="roundRect">
            <a:avLst>
              <a:gd name="adj" fmla="val 3425"/>
            </a:avLst>
          </a:prstGeom>
          <a:solidFill>
            <a:srgbClr val="1F261C"/>
          </a:solidFill>
          <a:ln w="12700">
            <a:solidFill>
              <a:srgbClr val="404F3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10040112" y="2377440"/>
            <a:ext cx="1371600" cy="1371600"/>
          </a:xfrm>
          <a:prstGeom prst="roundRect">
            <a:avLst>
              <a:gd name="adj" fmla="val 8000"/>
            </a:avLst>
          </a:prstGeom>
          <a:solidFill>
            <a:srgbClr val="2C3427"/>
          </a:solidFill>
          <a:ln w="12700">
            <a:solidFill>
              <a:srgbClr val="404F3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pic>
        <p:nvPicPr>
          <p:cNvPr id="24" name="Image 3" descr="/sessions/gallant-beautiful-ramanujan/mnt/outputs/assets/ill_36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0259568" y="2596896"/>
            <a:ext cx="932688" cy="93268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619488" y="21488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59F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0"/>
          <p:cNvSpPr/>
          <p:nvPr/>
        </p:nvSpPr>
        <p:spPr>
          <a:xfrm>
            <a:off x="9619488" y="3931920"/>
            <a:ext cx="22128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Panneau administrateur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9619488" y="4663440"/>
            <a:ext cx="22128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7B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propriétaire suit les fonds collectés et reverse aux partenaires.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1133856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59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640080" y="6327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7B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Nour Community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59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 UTILISATEUR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Payer sa Zakat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966960" y="685800"/>
            <a:ext cx="1645920" cy="1645920"/>
          </a:xfrm>
          <a:prstGeom prst="roundRect">
            <a:avLst>
              <a:gd name="adj" fmla="val 6667"/>
            </a:avLst>
          </a:prstGeom>
          <a:solidFill>
            <a:srgbClr val="2C3427"/>
          </a:solidFill>
          <a:ln w="12700">
            <a:solidFill>
              <a:srgbClr val="404F3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pic>
        <p:nvPicPr>
          <p:cNvPr id="5" name="Image 0" descr="/sessions/gallant-beautiful-ramanujan/mnt/outputs/assets/ill_17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230307" y="949147"/>
            <a:ext cx="1119226" cy="111922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2148840"/>
            <a:ext cx="566928" cy="566928"/>
          </a:xfrm>
          <a:prstGeom prst="ellipse">
            <a:avLst/>
          </a:prstGeom>
          <a:solidFill>
            <a:srgbClr val="C59F54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72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463040" y="21031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Calculer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463040" y="25328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7B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L'utilisateur calcule le montant de sa zakat via le calculateur intégré.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969264" y="2715768"/>
            <a:ext cx="0" cy="502920"/>
          </a:xfrm>
          <a:prstGeom prst="line">
            <a:avLst/>
          </a:prstGeom>
          <a:noFill/>
          <a:ln w="25400">
            <a:solidFill>
              <a:srgbClr val="404F3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85800" y="3218688"/>
            <a:ext cx="566928" cy="566928"/>
          </a:xfrm>
          <a:prstGeom prst="ellipse">
            <a:avLst/>
          </a:prstGeom>
          <a:solidFill>
            <a:srgbClr val="C59F54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" y="32186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72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1463040" y="317296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Voir les projets éligibles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463040" y="360273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7B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L'app affiche uniquement les projets conformes au versement de la zakat.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969264" y="3785616"/>
            <a:ext cx="0" cy="502920"/>
          </a:xfrm>
          <a:prstGeom prst="line">
            <a:avLst/>
          </a:prstGeom>
          <a:noFill/>
          <a:ln w="25400">
            <a:solidFill>
              <a:srgbClr val="404F3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85800" y="4288536"/>
            <a:ext cx="566928" cy="566928"/>
          </a:xfrm>
          <a:prstGeom prst="ellipse">
            <a:avLst/>
          </a:prstGeom>
          <a:solidFill>
            <a:srgbClr val="C59F54"/>
          </a:solidFill>
          <a:ln/>
        </p:spPr>
      </p:sp>
      <p:sp>
        <p:nvSpPr>
          <p:cNvPr id="17" name="Text 14"/>
          <p:cNvSpPr/>
          <p:nvPr/>
        </p:nvSpPr>
        <p:spPr>
          <a:xfrm>
            <a:off x="685800" y="42885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72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1463040" y="4242816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Répartir le montant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463040" y="467258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7B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choisit combien attribuer à chaque projet, en une seule opération.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969264" y="4855464"/>
            <a:ext cx="0" cy="502920"/>
          </a:xfrm>
          <a:prstGeom prst="line">
            <a:avLst/>
          </a:prstGeom>
          <a:noFill/>
          <a:ln w="25400">
            <a:solidFill>
              <a:srgbClr val="404F3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85800" y="5358384"/>
            <a:ext cx="566928" cy="566928"/>
          </a:xfrm>
          <a:prstGeom prst="ellipse">
            <a:avLst/>
          </a:prstGeom>
          <a:solidFill>
            <a:srgbClr val="C59F54"/>
          </a:solidFill>
          <a:ln/>
        </p:spPr>
      </p:sp>
      <p:sp>
        <p:nvSpPr>
          <p:cNvPr id="22" name="Text 19"/>
          <p:cNvSpPr/>
          <p:nvPr/>
        </p:nvSpPr>
        <p:spPr>
          <a:xfrm>
            <a:off x="685800" y="53583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72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1463040" y="5312664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Payer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1463040" y="57424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7B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paiement unique et sécurisé couvre tous les projets choisis.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1133856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59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40080" y="6327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7B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Nour Community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59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 UTILISATEUR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Faire un don à un projet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966960" y="685800"/>
            <a:ext cx="1645920" cy="1645920"/>
          </a:xfrm>
          <a:prstGeom prst="roundRect">
            <a:avLst>
              <a:gd name="adj" fmla="val 6667"/>
            </a:avLst>
          </a:prstGeom>
          <a:solidFill>
            <a:srgbClr val="2C3427"/>
          </a:solidFill>
          <a:ln w="12700">
            <a:solidFill>
              <a:srgbClr val="404F3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pic>
        <p:nvPicPr>
          <p:cNvPr id="5" name="Image 0" descr="/sessions/gallant-beautiful-ramanujan/mnt/outputs/assets/ill_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230307" y="949147"/>
            <a:ext cx="1119226" cy="111922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2148840"/>
            <a:ext cx="566928" cy="566928"/>
          </a:xfrm>
          <a:prstGeom prst="ellipse">
            <a:avLst/>
          </a:prstGeom>
          <a:solidFill>
            <a:srgbClr val="00A280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463040" y="21031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Ouvrir l'écran Impact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463040" y="25328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7B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L'utilisateur parcourt les causes proposées dans l'application.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969264" y="2715768"/>
            <a:ext cx="0" cy="502920"/>
          </a:xfrm>
          <a:prstGeom prst="line">
            <a:avLst/>
          </a:prstGeom>
          <a:noFill/>
          <a:ln w="25400">
            <a:solidFill>
              <a:srgbClr val="404F3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85800" y="3218688"/>
            <a:ext cx="566928" cy="566928"/>
          </a:xfrm>
          <a:prstGeom prst="ellipse">
            <a:avLst/>
          </a:prstGeom>
          <a:solidFill>
            <a:srgbClr val="00A280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" y="32186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1463040" y="317296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Choisir une catégorie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463040" y="360273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7B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projets sont organisés par thème pour trouver facilement une cause.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969264" y="3785616"/>
            <a:ext cx="0" cy="502920"/>
          </a:xfrm>
          <a:prstGeom prst="line">
            <a:avLst/>
          </a:prstGeom>
          <a:noFill/>
          <a:ln w="25400">
            <a:solidFill>
              <a:srgbClr val="404F3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85800" y="4288536"/>
            <a:ext cx="566928" cy="566928"/>
          </a:xfrm>
          <a:prstGeom prst="ellipse">
            <a:avLst/>
          </a:prstGeom>
          <a:solidFill>
            <a:srgbClr val="00A280"/>
          </a:solidFill>
          <a:ln/>
        </p:spPr>
      </p:sp>
      <p:sp>
        <p:nvSpPr>
          <p:cNvPr id="17" name="Text 14"/>
          <p:cNvSpPr/>
          <p:nvPr/>
        </p:nvSpPr>
        <p:spPr>
          <a:xfrm>
            <a:off x="685800" y="42885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1463040" y="4242816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Sélectionner un projet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463040" y="467258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7B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voit l'objectif, le montant déjà collecté et l'organisation porteuse.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969264" y="4855464"/>
            <a:ext cx="0" cy="502920"/>
          </a:xfrm>
          <a:prstGeom prst="line">
            <a:avLst/>
          </a:prstGeom>
          <a:noFill/>
          <a:ln w="25400">
            <a:solidFill>
              <a:srgbClr val="404F3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85800" y="5358384"/>
            <a:ext cx="566928" cy="566928"/>
          </a:xfrm>
          <a:prstGeom prst="ellipse">
            <a:avLst/>
          </a:prstGeom>
          <a:solidFill>
            <a:srgbClr val="00A280"/>
          </a:solidFill>
          <a:ln/>
        </p:spPr>
      </p:sp>
      <p:sp>
        <p:nvSpPr>
          <p:cNvPr id="22" name="Text 19"/>
          <p:cNvSpPr/>
          <p:nvPr/>
        </p:nvSpPr>
        <p:spPr>
          <a:xfrm>
            <a:off x="685800" y="53583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1463040" y="5312664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Faire le don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1463040" y="57424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7B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choisit le montant et paie en quelques secondes, en toute sécurité.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1133856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59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40080" y="6327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7B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Nour Community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59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ÇA MARCHE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flux de l'argent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2084832" cy="2286000"/>
          </a:xfrm>
          <a:prstGeom prst="roundRect">
            <a:avLst>
              <a:gd name="adj" fmla="val 4386"/>
            </a:avLst>
          </a:prstGeom>
          <a:solidFill>
            <a:srgbClr val="2C3427"/>
          </a:solidFill>
          <a:ln w="9525">
            <a:solidFill>
              <a:srgbClr val="C59F54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26464" y="2560320"/>
            <a:ext cx="512064" cy="512064"/>
          </a:xfrm>
          <a:prstGeom prst="ellipse">
            <a:avLst/>
          </a:prstGeom>
          <a:solidFill>
            <a:srgbClr val="C59F54"/>
          </a:solidFill>
          <a:ln/>
        </p:spPr>
      </p:sp>
      <p:sp>
        <p:nvSpPr>
          <p:cNvPr id="6" name="Text 4"/>
          <p:cNvSpPr/>
          <p:nvPr/>
        </p:nvSpPr>
        <p:spPr>
          <a:xfrm>
            <a:off x="1426464" y="2560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72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3657600"/>
            <a:ext cx="1810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L'utilisateur saisit son don. Aucun montant ni prix n'est décidé dans l'app.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06624" y="3108960"/>
            <a:ext cx="292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59F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2980944" y="2286000"/>
            <a:ext cx="2084832" cy="2286000"/>
          </a:xfrm>
          <a:prstGeom prst="roundRect">
            <a:avLst>
              <a:gd name="adj" fmla="val 4386"/>
            </a:avLst>
          </a:prstGeom>
          <a:solidFill>
            <a:srgbClr val="353F32"/>
          </a:solidFill>
          <a:ln w="19050">
            <a:solidFill>
              <a:srgbClr val="C59F54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67328" y="2560320"/>
            <a:ext cx="512064" cy="512064"/>
          </a:xfrm>
          <a:prstGeom prst="ellipse">
            <a:avLst/>
          </a:prstGeom>
          <a:solidFill>
            <a:srgbClr val="C59F54"/>
          </a:solidFill>
          <a:ln/>
        </p:spPr>
      </p:sp>
      <p:sp>
        <p:nvSpPr>
          <p:cNvPr id="12" name="Text 10"/>
          <p:cNvSpPr/>
          <p:nvPr/>
        </p:nvSpPr>
        <p:spPr>
          <a:xfrm>
            <a:off x="3767328" y="2560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72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072384" y="320040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Serveur Nour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118104" y="3657600"/>
            <a:ext cx="1810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serveur valide le projet et le montant, puis crée la demande de paiement.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47488" y="3108960"/>
            <a:ext cx="292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59F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5321808" y="2286000"/>
            <a:ext cx="2084832" cy="2286000"/>
          </a:xfrm>
          <a:prstGeom prst="roundRect">
            <a:avLst>
              <a:gd name="adj" fmla="val 4386"/>
            </a:avLst>
          </a:prstGeom>
          <a:solidFill>
            <a:srgbClr val="404F3B"/>
          </a:solidFill>
          <a:ln w="9525">
            <a:solidFill>
              <a:srgbClr val="C59F54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08192" y="2560320"/>
            <a:ext cx="512064" cy="512064"/>
          </a:xfrm>
          <a:prstGeom prst="ellipse">
            <a:avLst/>
          </a:prstGeom>
          <a:solidFill>
            <a:srgbClr val="C59F54"/>
          </a:solidFill>
          <a:ln/>
        </p:spPr>
      </p:sp>
      <p:sp>
        <p:nvSpPr>
          <p:cNvPr id="18" name="Text 16"/>
          <p:cNvSpPr/>
          <p:nvPr/>
        </p:nvSpPr>
        <p:spPr>
          <a:xfrm>
            <a:off x="6108192" y="2560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72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413248" y="320040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Stripe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458968" y="3657600"/>
            <a:ext cx="1810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L'utilisateur paie par carte, Apple Pay ou Google Pay, de façon sécurisée.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88352" y="3108960"/>
            <a:ext cx="292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59F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7662672" y="2286000"/>
            <a:ext cx="2084832" cy="2286000"/>
          </a:xfrm>
          <a:prstGeom prst="roundRect">
            <a:avLst>
              <a:gd name="adj" fmla="val 4386"/>
            </a:avLst>
          </a:prstGeom>
          <a:solidFill>
            <a:srgbClr val="353F32"/>
          </a:solidFill>
          <a:ln w="19050">
            <a:solidFill>
              <a:srgbClr val="C59F54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449056" y="2560320"/>
            <a:ext cx="512064" cy="512064"/>
          </a:xfrm>
          <a:prstGeom prst="ellipse">
            <a:avLst/>
          </a:prstGeom>
          <a:solidFill>
            <a:srgbClr val="C59F54"/>
          </a:solidFill>
          <a:ln/>
        </p:spPr>
      </p:sp>
      <p:sp>
        <p:nvSpPr>
          <p:cNvPr id="24" name="Text 22"/>
          <p:cNvSpPr/>
          <p:nvPr/>
        </p:nvSpPr>
        <p:spPr>
          <a:xfrm>
            <a:off x="8449056" y="2560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72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754112" y="320040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Confirmation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799832" y="3657600"/>
            <a:ext cx="1810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confirme le paiement au serveur — c'est la seule source de vérité.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729216" y="3108960"/>
            <a:ext cx="292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59F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600" dirty="0"/>
          </a:p>
        </p:txBody>
      </p:sp>
      <p:sp>
        <p:nvSpPr>
          <p:cNvPr id="28" name="Shape 26"/>
          <p:cNvSpPr/>
          <p:nvPr/>
        </p:nvSpPr>
        <p:spPr>
          <a:xfrm>
            <a:off x="10003536" y="2286000"/>
            <a:ext cx="2084832" cy="2286000"/>
          </a:xfrm>
          <a:prstGeom prst="roundRect">
            <a:avLst>
              <a:gd name="adj" fmla="val 4386"/>
            </a:avLst>
          </a:prstGeom>
          <a:solidFill>
            <a:srgbClr val="2C3427"/>
          </a:solidFill>
          <a:ln w="9525">
            <a:solidFill>
              <a:srgbClr val="C59F54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789920" y="2560320"/>
            <a:ext cx="512064" cy="512064"/>
          </a:xfrm>
          <a:prstGeom prst="ellipse">
            <a:avLst/>
          </a:prstGeom>
          <a:solidFill>
            <a:srgbClr val="C59F54"/>
          </a:solidFill>
          <a:ln/>
        </p:spPr>
      </p:sp>
      <p:sp>
        <p:nvSpPr>
          <p:cNvPr id="30" name="Text 28"/>
          <p:cNvSpPr/>
          <p:nvPr/>
        </p:nvSpPr>
        <p:spPr>
          <a:xfrm>
            <a:off x="10789920" y="2560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72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0094976" y="320040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Mise à jour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0140696" y="3657600"/>
            <a:ext cx="1810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don est enregistré et le montant collecté du projet augmente.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0080" y="507492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272E22"/>
          </a:solidFill>
          <a:ln w="12700">
            <a:solidFill>
              <a:srgbClr val="404F3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51206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E8C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retenir : 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8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montant et la validation sont toujours gérés par le serveur. L'argent n'est enregistré qu'après confirmation par Stripe — jamais sur simple action dans l'application.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133856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59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0080" y="6327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7B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Nour Community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59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&amp; FIABILITÉ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Pourquoi tout passe par le serveur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058400" y="457200"/>
            <a:ext cx="1417320" cy="1417320"/>
          </a:xfrm>
          <a:prstGeom prst="roundRect">
            <a:avLst>
              <a:gd name="adj" fmla="val 7742"/>
            </a:avLst>
          </a:prstGeom>
          <a:solidFill>
            <a:srgbClr val="2C3427"/>
          </a:solidFill>
          <a:ln w="12700">
            <a:solidFill>
              <a:srgbClr val="404F3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pic>
        <p:nvPicPr>
          <p:cNvPr id="5" name="Image 0" descr="/sessions/gallant-beautiful-ramanujan/mnt/outputs/assets/ill_27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285171" y="683971"/>
            <a:ext cx="963778" cy="96377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2148840"/>
            <a:ext cx="5257800" cy="1737360"/>
          </a:xfrm>
          <a:prstGeom prst="roundRect">
            <a:avLst>
              <a:gd name="adj" fmla="val 5263"/>
            </a:avLst>
          </a:prstGeom>
          <a:solidFill>
            <a:srgbClr val="1F261C"/>
          </a:solidFill>
          <a:ln w="12700">
            <a:solidFill>
              <a:srgbClr val="404F3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14400" y="2532888"/>
            <a:ext cx="960120" cy="960120"/>
          </a:xfrm>
          <a:prstGeom prst="roundRect">
            <a:avLst>
              <a:gd name="adj" fmla="val 11429"/>
            </a:avLst>
          </a:prstGeom>
          <a:solidFill>
            <a:srgbClr val="2C3427"/>
          </a:solidFill>
          <a:ln w="12700">
            <a:solidFill>
              <a:srgbClr val="404F3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pic>
        <p:nvPicPr>
          <p:cNvPr id="8" name="Image 1" descr="/sessions/gallant-beautiful-ramanujan/mnt/outputs/assets/ill_4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68019" y="2686507"/>
            <a:ext cx="652882" cy="65288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057400" y="244144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8C5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Aucune fraude possible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2057400" y="292608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7B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 ne peut gonfler un montant collecté sans avoir réellement payé.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263640" y="2148840"/>
            <a:ext cx="5257800" cy="1737360"/>
          </a:xfrm>
          <a:prstGeom prst="roundRect">
            <a:avLst>
              <a:gd name="adj" fmla="val 5263"/>
            </a:avLst>
          </a:prstGeom>
          <a:solidFill>
            <a:srgbClr val="1F261C"/>
          </a:solidFill>
          <a:ln w="12700">
            <a:solidFill>
              <a:srgbClr val="404F3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537960" y="2532888"/>
            <a:ext cx="960120" cy="960120"/>
          </a:xfrm>
          <a:prstGeom prst="roundRect">
            <a:avLst>
              <a:gd name="adj" fmla="val 11429"/>
            </a:avLst>
          </a:prstGeom>
          <a:solidFill>
            <a:srgbClr val="2C3427"/>
          </a:solidFill>
          <a:ln w="12700">
            <a:solidFill>
              <a:srgbClr val="404F3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pic>
        <p:nvPicPr>
          <p:cNvPr id="13" name="Image 2" descr="/sessions/gallant-beautiful-ramanujan/mnt/outputs/assets/ill_4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691579" y="2686507"/>
            <a:ext cx="652882" cy="65288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680960" y="244144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8C5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Montant validé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7680960" y="292608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7B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serveur vérifie chaque projet et chaque somme avant tout paiement.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40080" y="4206240"/>
            <a:ext cx="5257800" cy="1737360"/>
          </a:xfrm>
          <a:prstGeom prst="roundRect">
            <a:avLst>
              <a:gd name="adj" fmla="val 5263"/>
            </a:avLst>
          </a:prstGeom>
          <a:solidFill>
            <a:srgbClr val="1F261C"/>
          </a:solidFill>
          <a:ln w="12700">
            <a:solidFill>
              <a:srgbClr val="404F3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914400" y="4590288"/>
            <a:ext cx="960120" cy="960120"/>
          </a:xfrm>
          <a:prstGeom prst="roundRect">
            <a:avLst>
              <a:gd name="adj" fmla="val 11429"/>
            </a:avLst>
          </a:prstGeom>
          <a:solidFill>
            <a:srgbClr val="2C3427"/>
          </a:solidFill>
          <a:ln w="12700">
            <a:solidFill>
              <a:srgbClr val="404F3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pic>
        <p:nvPicPr>
          <p:cNvPr id="18" name="Image 3" descr="/sessions/gallant-beautiful-ramanujan/mnt/outputs/assets/ill_4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068019" y="4743907"/>
            <a:ext cx="652882" cy="65288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2057400" y="449884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8C5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Zakat protégée</a:t>
            </a:r>
            <a:endParaRPr lang="en-US" sz="1650" dirty="0"/>
          </a:p>
        </p:txBody>
      </p:sp>
      <p:sp>
        <p:nvSpPr>
          <p:cNvPr id="20" name="Text 14"/>
          <p:cNvSpPr/>
          <p:nvPr/>
        </p:nvSpPr>
        <p:spPr>
          <a:xfrm>
            <a:off x="2057400" y="498348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7B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Seuls les projets réellement éligibles peuvent recevoir la zakat.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6263640" y="4206240"/>
            <a:ext cx="5257800" cy="1737360"/>
          </a:xfrm>
          <a:prstGeom prst="roundRect">
            <a:avLst>
              <a:gd name="adj" fmla="val 5263"/>
            </a:avLst>
          </a:prstGeom>
          <a:solidFill>
            <a:srgbClr val="1F261C"/>
          </a:solidFill>
          <a:ln w="12700">
            <a:solidFill>
              <a:srgbClr val="404F3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537960" y="4590288"/>
            <a:ext cx="960120" cy="960120"/>
          </a:xfrm>
          <a:prstGeom prst="roundRect">
            <a:avLst>
              <a:gd name="adj" fmla="val 11429"/>
            </a:avLst>
          </a:prstGeom>
          <a:solidFill>
            <a:srgbClr val="2C3427"/>
          </a:solidFill>
          <a:ln w="12700">
            <a:solidFill>
              <a:srgbClr val="404F3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pic>
        <p:nvPicPr>
          <p:cNvPr id="23" name="Image 4" descr="/sessions/gallant-beautiful-ramanujan/mnt/outputs/assets/ill_4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691579" y="4743907"/>
            <a:ext cx="652882" cy="65288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680960" y="449884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8C5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Aucun double comptage</a:t>
            </a:r>
            <a:endParaRPr lang="en-US" sz="1650" dirty="0"/>
          </a:p>
        </p:txBody>
      </p:sp>
      <p:sp>
        <p:nvSpPr>
          <p:cNvPr id="25" name="Text 18"/>
          <p:cNvSpPr/>
          <p:nvPr/>
        </p:nvSpPr>
        <p:spPr>
          <a:xfrm>
            <a:off x="7680960" y="498348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7B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si une confirmation arrive en double, le don n'est compté qu'une fois.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1133856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59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640080" y="6327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7B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Nour Community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59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DE DONNÉES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Deux modèles de transaction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303520" cy="3977640"/>
          </a:xfrm>
          <a:prstGeom prst="roundRect">
            <a:avLst>
              <a:gd name="adj" fmla="val 2299"/>
            </a:avLst>
          </a:prstGeom>
          <a:solidFill>
            <a:srgbClr val="1F261C"/>
          </a:solidFill>
          <a:ln w="12700">
            <a:solidFill>
              <a:srgbClr val="404F3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331720"/>
            <a:ext cx="1188720" cy="1188720"/>
          </a:xfrm>
          <a:prstGeom prst="roundRect">
            <a:avLst>
              <a:gd name="adj" fmla="val 9231"/>
            </a:avLst>
          </a:prstGeom>
          <a:solidFill>
            <a:srgbClr val="2C3427"/>
          </a:solidFill>
          <a:ln w="12700">
            <a:solidFill>
              <a:srgbClr val="404F3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sessions/gallant-beautiful-ramanujan/mnt/outputs/assets/ill_1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50315" y="2521915"/>
            <a:ext cx="808330" cy="8083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331720" y="24231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Transaction simple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2331720" y="28803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CB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don, un projet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05840" y="370332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B7B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L'utilisateur soutient un seul projet.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B7B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typique : un don depuis l'écran Impact.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B7B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transaction = un projet, un montant.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217920" y="2011680"/>
            <a:ext cx="5303520" cy="3977640"/>
          </a:xfrm>
          <a:prstGeom prst="roundRect">
            <a:avLst>
              <a:gd name="adj" fmla="val 2299"/>
            </a:avLst>
          </a:prstGeom>
          <a:solidFill>
            <a:srgbClr val="2C3427"/>
          </a:solidFill>
          <a:ln w="19050">
            <a:solidFill>
              <a:srgbClr val="C59F54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37960" y="2331720"/>
            <a:ext cx="1188720" cy="1188720"/>
          </a:xfrm>
          <a:prstGeom prst="roundRect">
            <a:avLst>
              <a:gd name="adj" fmla="val 9231"/>
            </a:avLst>
          </a:prstGeom>
          <a:solidFill>
            <a:srgbClr val="353F32"/>
          </a:solidFill>
          <a:ln w="12700">
            <a:solidFill>
              <a:srgbClr val="404F3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/sessions/gallant-beautiful-ramanujan/mnt/outputs/assets/ill_8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728155" y="2521915"/>
            <a:ext cx="808330" cy="80833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909560" y="24231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Transaction répartie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7909560" y="28803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C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paiement, plusieurs projets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583680" y="370332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8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Utilisée pour la zakat répartie sur plusieurs projets.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8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paiement couvre tous les projets choisis.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8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Évite de multiplier les frais de paiement.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1133856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59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40080" y="6327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7B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Nour Community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59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 D'UN PAIEMENT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cycle de vie d'une transaction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468880"/>
            <a:ext cx="3383280" cy="2468880"/>
          </a:xfrm>
          <a:prstGeom prst="roundRect">
            <a:avLst>
              <a:gd name="adj" fmla="val 3704"/>
            </a:avLst>
          </a:prstGeom>
          <a:solidFill>
            <a:srgbClr val="1F261C"/>
          </a:solidFill>
          <a:ln w="19050">
            <a:solidFill>
              <a:srgbClr val="353F32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43000" y="27432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53F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143000" y="3429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 attente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143000" y="39319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7B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paiement est lancé mais pas encore confirmé.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160520" y="3383280"/>
            <a:ext cx="594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59F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709160" y="2468880"/>
            <a:ext cx="3383280" cy="2468880"/>
          </a:xfrm>
          <a:prstGeom prst="roundRect">
            <a:avLst>
              <a:gd name="adj" fmla="val 3704"/>
            </a:avLst>
          </a:prstGeom>
          <a:solidFill>
            <a:srgbClr val="1F261C"/>
          </a:solidFill>
          <a:ln w="19050">
            <a:solidFill>
              <a:srgbClr val="00A28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0" y="27432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A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029200" y="3429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Confirmé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5029200" y="39319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7B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a validé le paiement. Le montant collecté augmente.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046720" y="3383280"/>
            <a:ext cx="594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59F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8595360" y="2468880"/>
            <a:ext cx="3383280" cy="2468880"/>
          </a:xfrm>
          <a:prstGeom prst="roundRect">
            <a:avLst>
              <a:gd name="adj" fmla="val 3704"/>
            </a:avLst>
          </a:prstGeom>
          <a:solidFill>
            <a:srgbClr val="1F261C"/>
          </a:solidFill>
          <a:ln w="19050">
            <a:solidFill>
              <a:srgbClr val="C59F54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915400" y="27432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59F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915400" y="3429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Remboursé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915400" y="39319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7B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cas de remboursement, le montant collecté est ajusté.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22960" y="5349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8C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montant collecté d'un projet n'augmente qu'au statut « Confirmé »</a:t>
            </a:r>
            <a:pPr algn="ctr" indent="0" marL="0">
              <a:buNone/>
            </a:pPr>
            <a:r>
              <a:rPr lang="en-US" sz="1450" dirty="0">
                <a:solidFill>
                  <a:srgbClr val="B7B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garantissant que les chiffres affichés reflètent de l'argent réellement reçu.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133856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59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6327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7B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Nour Community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59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CÔTÉ PROPRIÉTAIRE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 donateur à l'organisation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CB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fonds sont collectés sur le compte Nour, puis reversés manuellement aux organisations partenaires.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2670048" cy="3520440"/>
          </a:xfrm>
          <a:prstGeom prst="roundRect">
            <a:avLst>
              <a:gd name="adj" fmla="val 3425"/>
            </a:avLst>
          </a:prstGeom>
          <a:solidFill>
            <a:srgbClr val="1F261C"/>
          </a:solidFill>
          <a:ln w="12700">
            <a:solidFill>
              <a:srgbClr val="404F3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57884" y="2651760"/>
            <a:ext cx="1234440" cy="1234440"/>
          </a:xfrm>
          <a:prstGeom prst="roundRect">
            <a:avLst>
              <a:gd name="adj" fmla="val 8889"/>
            </a:avLst>
          </a:prstGeom>
          <a:solidFill>
            <a:srgbClr val="2C3427"/>
          </a:solidFill>
          <a:ln w="12700">
            <a:solidFill>
              <a:srgbClr val="404F3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pic>
        <p:nvPicPr>
          <p:cNvPr id="7" name="Image 0" descr="/sessions/gallant-beautiful-ramanujan/mnt/outputs/assets/ill_2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555394" y="2849270"/>
            <a:ext cx="839419" cy="83941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4023360"/>
            <a:ext cx="23042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donateurs paient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22960" y="4663440"/>
            <a:ext cx="23042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7B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don est collecté de façon sécurisée sur le compte Stripe de Nour.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557016" y="2331720"/>
            <a:ext cx="2670048" cy="3520440"/>
          </a:xfrm>
          <a:prstGeom prst="roundRect">
            <a:avLst>
              <a:gd name="adj" fmla="val 3425"/>
            </a:avLst>
          </a:prstGeom>
          <a:solidFill>
            <a:srgbClr val="1F261C"/>
          </a:solidFill>
          <a:ln w="12700">
            <a:solidFill>
              <a:srgbClr val="404F3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74820" y="2651760"/>
            <a:ext cx="1234440" cy="1234440"/>
          </a:xfrm>
          <a:prstGeom prst="roundRect">
            <a:avLst>
              <a:gd name="adj" fmla="val 8889"/>
            </a:avLst>
          </a:prstGeom>
          <a:solidFill>
            <a:srgbClr val="2C3427"/>
          </a:solidFill>
          <a:ln w="12700">
            <a:solidFill>
              <a:srgbClr val="404F3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/sessions/gallant-beautiful-ramanujan/mnt/outputs/assets/ill_36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472330" y="2849270"/>
            <a:ext cx="839419" cy="83941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39896" y="4023360"/>
            <a:ext cx="23042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Tout est enregistré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3739896" y="4663440"/>
            <a:ext cx="23042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7B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serveur sait exactement combien a été collecté, par projet et par cause.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473952" y="2331720"/>
            <a:ext cx="2670048" cy="3520440"/>
          </a:xfrm>
          <a:prstGeom prst="roundRect">
            <a:avLst>
              <a:gd name="adj" fmla="val 3425"/>
            </a:avLst>
          </a:prstGeom>
          <a:solidFill>
            <a:srgbClr val="1F261C"/>
          </a:solidFill>
          <a:ln w="12700">
            <a:solidFill>
              <a:srgbClr val="404F3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191756" y="2651760"/>
            <a:ext cx="1234440" cy="1234440"/>
          </a:xfrm>
          <a:prstGeom prst="roundRect">
            <a:avLst>
              <a:gd name="adj" fmla="val 8889"/>
            </a:avLst>
          </a:prstGeom>
          <a:solidFill>
            <a:srgbClr val="2C3427"/>
          </a:solidFill>
          <a:ln w="12700">
            <a:solidFill>
              <a:srgbClr val="404F3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pic>
        <p:nvPicPr>
          <p:cNvPr id="17" name="Image 2" descr="/sessions/gallant-beautiful-ramanujan/mnt/outputs/assets/ill_29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389266" y="2849270"/>
            <a:ext cx="839419" cy="83941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656832" y="4023360"/>
            <a:ext cx="23042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Reversement au partenaire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6656832" y="4663440"/>
            <a:ext cx="23042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7B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propriétaire vire les fonds à l'organisation (virement bancaire, Wise…).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9390888" y="2331720"/>
            <a:ext cx="2670048" cy="3520440"/>
          </a:xfrm>
          <a:prstGeom prst="roundRect">
            <a:avLst>
              <a:gd name="adj" fmla="val 3425"/>
            </a:avLst>
          </a:prstGeom>
          <a:solidFill>
            <a:srgbClr val="1F261C"/>
          </a:solidFill>
          <a:ln w="12700">
            <a:solidFill>
              <a:srgbClr val="404F3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10108692" y="2651760"/>
            <a:ext cx="1234440" cy="1234440"/>
          </a:xfrm>
          <a:prstGeom prst="roundRect">
            <a:avLst>
              <a:gd name="adj" fmla="val 8889"/>
            </a:avLst>
          </a:prstGeom>
          <a:solidFill>
            <a:srgbClr val="2C3427"/>
          </a:solidFill>
          <a:ln w="12700">
            <a:solidFill>
              <a:srgbClr val="404F3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pic>
        <p:nvPicPr>
          <p:cNvPr id="22" name="Image 3" descr="/sessions/gallant-beautiful-ramanujan/mnt/outputs/assets/ill_2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0306202" y="2849270"/>
            <a:ext cx="839419" cy="839419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573768" y="4023360"/>
            <a:ext cx="23042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Preuve &amp; suivi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9573768" y="4663440"/>
            <a:ext cx="23042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7B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reversement est tracé : montant, date, justificatif.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B7B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organisations partenaires n'ont pas besoin d'un compte dans Nour — un simple accord suffit pour figurer parmi les projets.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1133856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59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640080" y="6327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7B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Nour Community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72E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C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NOUVEAUTÉ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Panneau Administrateur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CB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l'utilisateur est administrateur, il accède à des outils dédiés directement dans l'application.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0104120" y="457200"/>
            <a:ext cx="1371600" cy="1371600"/>
          </a:xfrm>
          <a:prstGeom prst="roundRect">
            <a:avLst>
              <a:gd name="adj" fmla="val 8000"/>
            </a:avLst>
          </a:prstGeom>
          <a:solidFill>
            <a:srgbClr val="353F32"/>
          </a:solidFill>
          <a:ln w="12700">
            <a:solidFill>
              <a:srgbClr val="404F3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sessions/gallant-beautiful-ramanujan/mnt/outputs/assets/ill_36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323576" y="676656"/>
            <a:ext cx="932688" cy="93268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2331720"/>
            <a:ext cx="5257800" cy="1600200"/>
          </a:xfrm>
          <a:prstGeom prst="roundRect">
            <a:avLst>
              <a:gd name="adj" fmla="val 5714"/>
            </a:avLst>
          </a:prstGeom>
          <a:solidFill>
            <a:srgbClr val="2C3427"/>
          </a:solidFill>
          <a:ln w="12700">
            <a:solidFill>
              <a:srgbClr val="C59F54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32688" y="2834640"/>
            <a:ext cx="566928" cy="566928"/>
          </a:xfrm>
          <a:prstGeom prst="ellipse">
            <a:avLst/>
          </a:prstGeom>
          <a:solidFill>
            <a:srgbClr val="C59F54"/>
          </a:solidFill>
          <a:ln/>
        </p:spPr>
      </p:sp>
      <p:sp>
        <p:nvSpPr>
          <p:cNvPr id="9" name="Text 6"/>
          <p:cNvSpPr/>
          <p:nvPr/>
        </p:nvSpPr>
        <p:spPr>
          <a:xfrm>
            <a:off x="932688" y="2834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72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1737360" y="25877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C5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Voir ce qu'il reste à reverser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737360" y="3044952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chaque projet et chaque organisation, l'admin voit le solde à transférer.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263640" y="2331720"/>
            <a:ext cx="5257800" cy="1600200"/>
          </a:xfrm>
          <a:prstGeom prst="roundRect">
            <a:avLst>
              <a:gd name="adj" fmla="val 5714"/>
            </a:avLst>
          </a:prstGeom>
          <a:solidFill>
            <a:srgbClr val="2C3427"/>
          </a:solidFill>
          <a:ln w="12700">
            <a:solidFill>
              <a:srgbClr val="C59F54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556248" y="2834640"/>
            <a:ext cx="566928" cy="566928"/>
          </a:xfrm>
          <a:prstGeom prst="ellipse">
            <a:avLst/>
          </a:prstGeom>
          <a:solidFill>
            <a:srgbClr val="C59F54"/>
          </a:solidFill>
          <a:ln/>
        </p:spPr>
      </p:sp>
      <p:sp>
        <p:nvSpPr>
          <p:cNvPr id="14" name="Text 11"/>
          <p:cNvSpPr/>
          <p:nvPr/>
        </p:nvSpPr>
        <p:spPr>
          <a:xfrm>
            <a:off x="6556248" y="2834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72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7360920" y="25877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C5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Créer un reversement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360920" y="3044952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quelques gestes, il enregistre ce qu'il a payé à un partenaire.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0080" y="4224528"/>
            <a:ext cx="5257800" cy="1600200"/>
          </a:xfrm>
          <a:prstGeom prst="roundRect">
            <a:avLst>
              <a:gd name="adj" fmla="val 5714"/>
            </a:avLst>
          </a:prstGeom>
          <a:solidFill>
            <a:srgbClr val="2C3427"/>
          </a:solidFill>
          <a:ln w="12700">
            <a:solidFill>
              <a:srgbClr val="C59F54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932688" y="4727448"/>
            <a:ext cx="566928" cy="566928"/>
          </a:xfrm>
          <a:prstGeom prst="ellipse">
            <a:avLst/>
          </a:prstGeom>
          <a:solidFill>
            <a:srgbClr val="C59F54"/>
          </a:solidFill>
          <a:ln/>
        </p:spPr>
      </p:sp>
      <p:sp>
        <p:nvSpPr>
          <p:cNvPr id="19" name="Text 16"/>
          <p:cNvSpPr/>
          <p:nvPr/>
        </p:nvSpPr>
        <p:spPr>
          <a:xfrm>
            <a:off x="932688" y="47274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72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1737360" y="44805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C5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Suivre par projet et par cause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737360" y="493776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suivi sépare clairement la zakat des dons classiques.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263640" y="4224528"/>
            <a:ext cx="5257800" cy="1600200"/>
          </a:xfrm>
          <a:prstGeom prst="roundRect">
            <a:avLst>
              <a:gd name="adj" fmla="val 5714"/>
            </a:avLst>
          </a:prstGeom>
          <a:solidFill>
            <a:srgbClr val="2C3427"/>
          </a:solidFill>
          <a:ln w="12700">
            <a:solidFill>
              <a:srgbClr val="C59F54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556248" y="4727448"/>
            <a:ext cx="566928" cy="566928"/>
          </a:xfrm>
          <a:prstGeom prst="ellipse">
            <a:avLst/>
          </a:prstGeom>
          <a:solidFill>
            <a:srgbClr val="C59F54"/>
          </a:solidFill>
          <a:ln/>
        </p:spPr>
      </p:sp>
      <p:sp>
        <p:nvSpPr>
          <p:cNvPr id="24" name="Text 21"/>
          <p:cNvSpPr/>
          <p:nvPr/>
        </p:nvSpPr>
        <p:spPr>
          <a:xfrm>
            <a:off x="6556248" y="47274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72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900" dirty="0"/>
          </a:p>
        </p:txBody>
      </p:sp>
      <p:sp>
        <p:nvSpPr>
          <p:cNvPr id="25" name="Text 22"/>
          <p:cNvSpPr/>
          <p:nvPr/>
        </p:nvSpPr>
        <p:spPr>
          <a:xfrm>
            <a:off x="7360920" y="44805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C5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Garder une preuve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360920" y="493776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Montant, méthode, date et justificatif sont conservés pour la transparence.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1133856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59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40080" y="6327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7B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Nour Community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59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CONFIANCE &amp; CONFORMITÉ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Transparence avant tout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784080" y="685800"/>
            <a:ext cx="1737360" cy="1737360"/>
          </a:xfrm>
          <a:prstGeom prst="roundRect">
            <a:avLst>
              <a:gd name="adj" fmla="val 6316"/>
            </a:avLst>
          </a:prstGeom>
          <a:solidFill>
            <a:srgbClr val="2C3427"/>
          </a:solidFill>
          <a:ln w="12700">
            <a:solidFill>
              <a:srgbClr val="404F3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pic>
        <p:nvPicPr>
          <p:cNvPr id="5" name="Image 0" descr="/sessions/gallant-beautiful-ramanujan/mnt/outputs/assets/ill_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062058" y="963778"/>
            <a:ext cx="1181405" cy="118140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2194560"/>
            <a:ext cx="8778240" cy="868680"/>
          </a:xfrm>
          <a:prstGeom prst="roundRect">
            <a:avLst>
              <a:gd name="adj" fmla="val 8421"/>
            </a:avLst>
          </a:prstGeom>
          <a:solidFill>
            <a:srgbClr val="1F261C"/>
          </a:solidFill>
          <a:ln w="12700">
            <a:solidFill>
              <a:srgbClr val="404F3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2400300"/>
            <a:ext cx="457200" cy="457200"/>
          </a:xfrm>
          <a:prstGeom prst="ellipse">
            <a:avLst/>
          </a:prstGeom>
          <a:solidFill>
            <a:srgbClr val="00A280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24003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508760" y="2194560"/>
            <a:ext cx="7726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E8C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Zakat jamais mélangée 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B7B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zakat et les dons sont suivis séparément, du paiement au reversement.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40080" y="3200400"/>
            <a:ext cx="8778240" cy="868680"/>
          </a:xfrm>
          <a:prstGeom prst="roundRect">
            <a:avLst>
              <a:gd name="adj" fmla="val 8421"/>
            </a:avLst>
          </a:prstGeom>
          <a:solidFill>
            <a:srgbClr val="1F261C"/>
          </a:solidFill>
          <a:ln w="12700">
            <a:solidFill>
              <a:srgbClr val="404F3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68680" y="3406140"/>
            <a:ext cx="457200" cy="457200"/>
          </a:xfrm>
          <a:prstGeom prst="ellipse">
            <a:avLst/>
          </a:prstGeom>
          <a:solidFill>
            <a:srgbClr val="00A280"/>
          </a:solidFill>
          <a:ln/>
        </p:spPr>
      </p:sp>
      <p:sp>
        <p:nvSpPr>
          <p:cNvPr id="12" name="Text 9"/>
          <p:cNvSpPr/>
          <p:nvPr/>
        </p:nvSpPr>
        <p:spPr>
          <a:xfrm>
            <a:off x="868680" y="34061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508760" y="3200400"/>
            <a:ext cx="7726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E8C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somme arrive entière 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B7B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frais ne sont pas déduits de la zakat : le projet reçoit le montant prévu.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40080" y="4206240"/>
            <a:ext cx="8778240" cy="868680"/>
          </a:xfrm>
          <a:prstGeom prst="roundRect">
            <a:avLst>
              <a:gd name="adj" fmla="val 8421"/>
            </a:avLst>
          </a:prstGeom>
          <a:solidFill>
            <a:srgbClr val="1F261C"/>
          </a:solidFill>
          <a:ln w="12700">
            <a:solidFill>
              <a:srgbClr val="404F3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68680" y="4411980"/>
            <a:ext cx="457200" cy="457200"/>
          </a:xfrm>
          <a:prstGeom prst="ellipse">
            <a:avLst/>
          </a:prstGeom>
          <a:solidFill>
            <a:srgbClr val="00A280"/>
          </a:solidFill>
          <a:ln/>
        </p:spPr>
      </p:sp>
      <p:sp>
        <p:nvSpPr>
          <p:cNvPr id="16" name="Text 13"/>
          <p:cNvSpPr/>
          <p:nvPr/>
        </p:nvSpPr>
        <p:spPr>
          <a:xfrm>
            <a:off x="868680" y="44119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508760" y="4206240"/>
            <a:ext cx="7726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E8C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Reversement traçable 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B7B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transfert vers une organisation est enregistré avec un justificatif.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40080" y="5212080"/>
            <a:ext cx="8778240" cy="868680"/>
          </a:xfrm>
          <a:prstGeom prst="roundRect">
            <a:avLst>
              <a:gd name="adj" fmla="val 8421"/>
            </a:avLst>
          </a:prstGeom>
          <a:solidFill>
            <a:srgbClr val="1F261C"/>
          </a:solidFill>
          <a:ln w="12700">
            <a:solidFill>
              <a:srgbClr val="404F3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68680" y="5417820"/>
            <a:ext cx="457200" cy="457200"/>
          </a:xfrm>
          <a:prstGeom prst="ellipse">
            <a:avLst/>
          </a:prstGeom>
          <a:solidFill>
            <a:srgbClr val="00A280"/>
          </a:solidFill>
          <a:ln/>
        </p:spPr>
      </p:sp>
      <p:sp>
        <p:nvSpPr>
          <p:cNvPr id="20" name="Text 17"/>
          <p:cNvSpPr/>
          <p:nvPr/>
        </p:nvSpPr>
        <p:spPr>
          <a:xfrm>
            <a:off x="868680" y="54178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508760" y="5212080"/>
            <a:ext cx="7726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E8C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pour le donateur 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B7B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L'utilisateur peut voir que sa contribution a bien été transmise.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133856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59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40080" y="6327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7B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Nour Community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72E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59F54"/>
          </a:solidFill>
          <a:ln/>
        </p:spPr>
      </p:sp>
      <p:pic>
        <p:nvPicPr>
          <p:cNvPr id="3" name="Image 0" descr="/sessions/gallant-beautiful-ramanujan/mnt/outputs/asset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058400" y="640080"/>
            <a:ext cx="1463040" cy="1463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822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C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RÉSUMÉ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31520" y="1234440"/>
            <a:ext cx="8686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 expérience simple,</a:t>
            </a:r>
            <a:endParaRPr lang="en-US" sz="3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système digne de confiance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777240" y="3154680"/>
            <a:ext cx="292608" cy="292608"/>
          </a:xfrm>
          <a:prstGeom prst="ellipse">
            <a:avLst/>
          </a:prstGeom>
          <a:solidFill>
            <a:srgbClr val="C59F54"/>
          </a:solidFill>
          <a:ln/>
        </p:spPr>
      </p:sp>
      <p:sp>
        <p:nvSpPr>
          <p:cNvPr id="7" name="Text 4"/>
          <p:cNvSpPr/>
          <p:nvPr/>
        </p:nvSpPr>
        <p:spPr>
          <a:xfrm>
            <a:off x="1280160" y="301752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ED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L'utilisateur paie sa zakat et ses dons en quelques gestes, en toute sécurité.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77240" y="3867912"/>
            <a:ext cx="292608" cy="292608"/>
          </a:xfrm>
          <a:prstGeom prst="ellipse">
            <a:avLst/>
          </a:prstGeom>
          <a:solidFill>
            <a:srgbClr val="C59F54"/>
          </a:solidFill>
          <a:ln/>
        </p:spPr>
      </p:sp>
      <p:sp>
        <p:nvSpPr>
          <p:cNvPr id="9" name="Text 6"/>
          <p:cNvSpPr/>
          <p:nvPr/>
        </p:nvSpPr>
        <p:spPr>
          <a:xfrm>
            <a:off x="1280160" y="3730752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ED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paiement est validé et enregistré côté serveur — aucune fraude possible.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77240" y="4581144"/>
            <a:ext cx="292608" cy="292608"/>
          </a:xfrm>
          <a:prstGeom prst="ellipse">
            <a:avLst/>
          </a:prstGeom>
          <a:solidFill>
            <a:srgbClr val="C59F54"/>
          </a:solidFill>
          <a:ln/>
        </p:spPr>
      </p:sp>
      <p:sp>
        <p:nvSpPr>
          <p:cNvPr id="11" name="Text 8"/>
          <p:cNvSpPr/>
          <p:nvPr/>
        </p:nvSpPr>
        <p:spPr>
          <a:xfrm>
            <a:off x="1280160" y="4443984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ED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zakat et les dons restent séparés et traçables, du donateur à l'organisation.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77240" y="5294376"/>
            <a:ext cx="292608" cy="292608"/>
          </a:xfrm>
          <a:prstGeom prst="ellipse">
            <a:avLst/>
          </a:prstGeom>
          <a:solidFill>
            <a:srgbClr val="C59F54"/>
          </a:solidFill>
          <a:ln/>
        </p:spPr>
      </p:sp>
      <p:sp>
        <p:nvSpPr>
          <p:cNvPr id="13" name="Text 10"/>
          <p:cNvSpPr/>
          <p:nvPr/>
        </p:nvSpPr>
        <p:spPr>
          <a:xfrm>
            <a:off x="1280160" y="5157216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ED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L'administrateur pilote les reversements et garde une preuve de chaque transfert.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77240" y="6126480"/>
            <a:ext cx="2743200" cy="0"/>
          </a:xfrm>
          <a:prstGeom prst="line">
            <a:avLst/>
          </a:prstGeom>
          <a:noFill/>
          <a:ln w="25400">
            <a:solidFill>
              <a:srgbClr val="C59F5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7240" y="6217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B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Nour Community  ·  Dons &amp; Zakat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Dons &amp; Zakat — Logique de paiement</dc:title>
  <dc:subject>PptxGenJS Presentation</dc:subject>
  <dc:creator>Nour Community</dc:creator>
  <cp:lastModifiedBy>Nour Community</cp:lastModifiedBy>
  <cp:revision>1</cp:revision>
  <dcterms:created xsi:type="dcterms:W3CDTF">2026-05-29T14:52:03Z</dcterms:created>
  <dcterms:modified xsi:type="dcterms:W3CDTF">2026-05-29T14:52:03Z</dcterms:modified>
</cp:coreProperties>
</file>